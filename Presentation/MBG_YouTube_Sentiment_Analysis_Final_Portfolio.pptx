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MINING   •   MACHINE LEARNING   •   EXECUTIVE REPORT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7830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MBG YouTube Sentiment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Text Mining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Classification, NLP, and Coordination Pattern Analysis on YouTube Comments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Author: Brian Naufal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Comments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04488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84848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Insights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Naufal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291072"/>
            <a:ext cx="11277295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9428" y="1417320"/>
            <a:ext cx="3429000" cy="4023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449428" y="1417320"/>
            <a:ext cx="34290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8028" y="1600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8028" y="2157984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33476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 YouTube comments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8028" y="2688336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33476" y="2633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videos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8028" y="3218688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33476" y="31638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11,205 unique commenters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24148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81348" y="1417320"/>
            <a:ext cx="3429000" cy="4023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1348" y="1417320"/>
            <a:ext cx="342900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9948" y="1600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09948" y="2157984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65396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09948" y="2688336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765396" y="2633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/ Text Mining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09948" y="3218688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765396" y="31638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09948" y="3749040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765396" y="36941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09948" y="4279392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765396" y="4224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09948" y="4809744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765396" y="4754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Pattern Analysis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56068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313268" y="1417320"/>
            <a:ext cx="3429000" cy="4023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313268" y="1417320"/>
            <a:ext cx="342900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1868" y="1600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41868" y="215798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8697316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distribution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41868" y="268833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8697316" y="2633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benchmarking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541868" y="321868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8697316" y="31638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541868" y="374904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8697316" y="36941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541868" y="427939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8697316" y="4224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Repeated-text pattern screening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Naufal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629107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0868" y="1554480"/>
            <a:ext cx="2606040" cy="2834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723748" y="17190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23748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DISTRIBUTION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23748" y="2971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sentiment distribution across YouTube comments.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75508" y="1554480"/>
            <a:ext cx="2606040" cy="2834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558388" y="17190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58388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BENCHMARKING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58388" y="2971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benchmark sentiment classification models.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0148" y="1554480"/>
            <a:ext cx="2606040" cy="2834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393028" y="17190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93028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&amp; ERROR ANALYSIS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93028" y="2971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textual patterns and model errors.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44788" y="1554480"/>
            <a:ext cx="2606040" cy="2834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9227668" y="17190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227668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SCREENING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27668" y="29718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descriptive coordination-like patterns for further review.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analysis is descriptive and does not classify accounts as buzzer/bot.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Naufal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629107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Sentiment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94560" y="1554480"/>
            <a:ext cx="77724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1554480"/>
            <a:ext cx="576453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1010412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8,900  (74.2%)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2212848"/>
            <a:ext cx="77724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2212848"/>
            <a:ext cx="1865376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10412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2,880  (24.0%)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94560" y="2871216"/>
            <a:ext cx="77724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4560" y="2871216"/>
            <a:ext cx="14249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104120" y="28712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 (1.8%)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11094415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86784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is strongly imbalanced, with neutral comments forming the largest class.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398264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Therefore, accuracy alone is insufficient for evaluating binary sentiment classification.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describe the collected YouTube sample, not the entire population.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Naufal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629107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Label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FUNNEL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 raw comments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3072384"/>
            <a:ext cx="329184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0723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leakage control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5753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3831336"/>
            <a:ext cx="23774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38313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10,934 model rows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727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5029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duplicate 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3218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5321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duplicate group removal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6144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56144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 before splitting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1188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VALIDATION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554480"/>
            <a:ext cx="169164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1554480"/>
            <a:ext cx="169164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78.00%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82512" y="221284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1554480"/>
            <a:ext cx="169164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1554480"/>
            <a:ext cx="169164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69.85%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211312" y="221284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966960" y="1554480"/>
            <a:ext cx="169164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9966960" y="1554480"/>
            <a:ext cx="169164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6696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0.424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040112" y="221284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Cohen's Kappa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2880360"/>
            <a:ext cx="530352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0175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represents human-reviewed AI-assisted annotation, not an independent gold-standard annotation study.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Naufal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629107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Analytics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2600" y="1417320"/>
            <a:ext cx="1682496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737464" y="14173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01088" y="14173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11400" y="1417320"/>
            <a:ext cx="1682496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566264" y="14173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29888" y="14173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0200" y="1417320"/>
            <a:ext cx="1682496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395064" y="14173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58688" y="14173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69000" y="1417320"/>
            <a:ext cx="1682496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223864" y="14173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Control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87488" y="14173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97800" y="1417320"/>
            <a:ext cx="1682496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8052664" y="14173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Labeling / Review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16288" y="14173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826600" y="1417320"/>
            <a:ext cx="1682496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9881464" y="14173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Mining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2600" y="2788920"/>
            <a:ext cx="2048256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737464" y="278892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+ 3-Class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66848" y="27889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77160" y="2788920"/>
            <a:ext cx="2048256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2932024" y="278892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1408" y="27889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71720" y="2788920"/>
            <a:ext cx="2048256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126584" y="278892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&amp;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55968" y="27889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66280" y="2788920"/>
            <a:ext cx="2048256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7321144" y="278892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50528" y="27889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460840" y="2788920"/>
            <a:ext cx="2048256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15704" y="278892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22128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38862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combines predictive modeling with descriptive text-pattern analysis.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Naufal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29107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&amp; Performance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32104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1417320"/>
                <a:gridCol w="1371600"/>
                <a:gridCol w="1417320"/>
                <a:gridCol w="1280160"/>
                <a:gridCol w="128016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 + LR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75.78%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93.71%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70.34%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72.40%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54.71%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BiLSTM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62.20%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91.91%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60.10%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61.86%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22.76%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BiGRU +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Optuna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61.12%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93.93%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56.55%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59.85%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35.24%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429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of strong class imbalance, Macro F1, Balanced Accuracy, and PR-AUC are more informative than Accuracy alone.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3931920"/>
            <a:ext cx="8321040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Logistic Regression provided the strongest validation Macro F1 among the evaluated models.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440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144000" y="1691640"/>
            <a:ext cx="246888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0" y="1828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completed trials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maximize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Macro F1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Naufal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629107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&amp; Explainability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CATEGORIES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0"/>
          </a:xfrm>
          <a:prstGeom prst="line">
            <a:avLst/>
          </a:prstGeom>
          <a:noFill/>
          <a:ln w="12700">
            <a:solidFill>
              <a:srgbClr val="FE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470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is not sufficient to evaluate with a single number. Errors were reviewed to understand: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50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712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effect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7124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7124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Linguistic ambiguity (slang, typo, sarcasm, mixed language, context-dependent comments)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EXPLAINABILITY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530352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470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Logistic Regression coefficients show which terms are most associated with model predictions: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487168"/>
            <a:ext cx="530352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606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features are associated with model predictions — not with causing the underlying sentiment.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Association does not mean causation.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Naufal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629107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 Sentiment Perspective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· Negative · Neutral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5188" y="1874520"/>
            <a:ext cx="196596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15188" y="1874520"/>
            <a:ext cx="196596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5188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83.24%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88340" y="25328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64028" y="1874520"/>
            <a:ext cx="196596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2964028" y="1874520"/>
            <a:ext cx="196596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4028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67.84%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037180" y="25328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12868" y="1874520"/>
            <a:ext cx="196596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112868" y="1874520"/>
            <a:ext cx="196596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2868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65.73%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86020" y="25328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1708" y="1874520"/>
            <a:ext cx="196596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261708" y="1874520"/>
            <a:ext cx="196596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1708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83.46%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34860" y="25328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10548" y="1874520"/>
            <a:ext cx="196596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9410548" y="1874520"/>
            <a:ext cx="196596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0548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70.23%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483700" y="2532888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3520440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is retained rather than forcing every comment into positive or negative.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3931920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performs differently across classes, especially for the minority positive class.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 results are not directly compared head-to-head with binary results — the two answer different tasks.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Naufal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29107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Pattern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screening of repeated and highly similar commenting patterns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5440" y="1371600"/>
            <a:ext cx="1728216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00304" y="1371600"/>
            <a:ext cx="161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09648" y="137160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19960" y="1371600"/>
            <a:ext cx="1728216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2474824" y="1371600"/>
            <a:ext cx="161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84168" y="137160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4480" y="1371600"/>
            <a:ext cx="1728216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349344" y="1371600"/>
            <a:ext cx="161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Cross-Video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58688" y="137160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69000" y="1371600"/>
            <a:ext cx="1728216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864" y="1371600"/>
            <a:ext cx="161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33208" y="137160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3520" y="1371600"/>
            <a:ext cx="1728216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8098384" y="1371600"/>
            <a:ext cx="161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Near-Duplicate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707728" y="137160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18040" y="1371600"/>
            <a:ext cx="1728216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72904" y="1371600"/>
            <a:ext cx="161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Multi-Signal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5188" y="2331720"/>
            <a:ext cx="246888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15188" y="2331720"/>
            <a:ext cx="246888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188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11,205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88340" y="29900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12668" y="2331720"/>
            <a:ext cx="246888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2668" y="2331720"/>
            <a:ext cx="246888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2668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585820" y="29900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Commenters with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 signal families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0148" y="2331720"/>
            <a:ext cx="246888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0148" y="2331720"/>
            <a:ext cx="246888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0148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83300" y="29900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multi-signal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07628" y="2331720"/>
            <a:ext cx="246888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8907628" y="2331720"/>
            <a:ext cx="2468880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07628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980780" y="29900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pattern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5188" y="36118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8" name="Text 36"/>
          <p:cNvSpPr/>
          <p:nvPr/>
        </p:nvSpPr>
        <p:spPr>
          <a:xfrm>
            <a:off x="815188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characters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26868" y="36118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0" name="Text 38"/>
          <p:cNvSpPr/>
          <p:nvPr/>
        </p:nvSpPr>
        <p:spPr>
          <a:xfrm>
            <a:off x="2826868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words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38548" y="36118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2" name="Text 40"/>
          <p:cNvSpPr/>
          <p:nvPr/>
        </p:nvSpPr>
        <p:spPr>
          <a:xfrm>
            <a:off x="4838548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≥ 0.92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15188" y="420624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REPEATED-TEXT PATTERNS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5188" y="4526280"/>
            <a:ext cx="250317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888340" y="4526280"/>
            <a:ext cx="23568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“mbg makanan beracun gratis”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01238" y="4526280"/>
            <a:ext cx="250317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3574390" y="4526280"/>
            <a:ext cx="23568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“mbg mas bahlil ganteng”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87288" y="4526280"/>
            <a:ext cx="250317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6260440" y="4526280"/>
            <a:ext cx="23568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“mbg (makan beracun gratis)”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873338" y="4526280"/>
            <a:ext cx="250317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8946490" y="4526280"/>
            <a:ext cx="23568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“mbg maling berkedok gizi”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5897880"/>
            <a:ext cx="12191695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descriptive textual patterns, not proof of buzzer, bot, or coordinated activity.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Naufal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629107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Findings, Limitations &amp; Takeaway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52044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DELIVERS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5087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distribution analysis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19659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Leakage-controlled sentiment modeling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" y="24231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benchmarking and evaluation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28803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and explainability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" y="33375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 sentiment perspective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37947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coordination-pattern screening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1051560"/>
            <a:ext cx="352044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43400" y="15087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15087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is strongly imbalanced.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43400" y="19659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44568" y="19659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LR achieved the strongest validation Macro F1 among tested models.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43400" y="24231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44568" y="24231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Deep-learning models did not outperform the classical baseline on validation Macro F1.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43400" y="28803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44568" y="28803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 modeling shows different performance across sentiment classes.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43400" y="33375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44568" y="33375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analysis detected 4 repeated-text patterns.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43400" y="37947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44568" y="37947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account-level screening resulted in 0 candidates.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83880" y="1051560"/>
            <a:ext cx="352044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83880" y="15087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85048" y="15087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sample, not population-representative.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83880" y="19659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85048" y="19659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labels.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83880" y="24231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85048" y="24231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is not independent gold-standard annotation.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83880" y="28803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85048" y="28803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similarity can arise naturally from shared topics.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3375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85048" y="33375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ground-truth confirmed buzzer/coordinated-account labels.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83880" y="37947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85048" y="37947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analysis therefore remains descriptive.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188720" y="4709160"/>
            <a:ext cx="9814255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88720" y="493776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demonstrates an end-to-end analytics workflow that combines data quality, NLP, machine learning, deep learning, model evaluation, explainability, and conservative coordination-pattern analysis.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88720" y="608076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Brian Naufal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2026-09-24T11:52:31Z</dcterms:created>
  <dcterms:modified xsi:type="dcterms:W3CDTF">2026-09-24T11:52:31Z</dcterms:modified>
</cp:coreProperties>
</file>